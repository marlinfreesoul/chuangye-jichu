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.jpeg"/><Relationship Id="rId10" Type="http://schemas.openxmlformats.org/officeDocument/2006/relationships/image" Target="../media/image5.jpe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0" y="2540000"/>
            <a:ext cx="6032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065F4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海韵智耕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366000" y="1778000"/>
            <a:ext cx="381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AGRICULTURE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25039" r="25039"/>
          <a:stretch>
            <a:fillRect/>
          </a:stretch>
        </p:blipFill>
        <p:spPr>
          <a:xfrm>
            <a:off x="762000" y="1524000"/>
            <a:ext cx="3810000" cy="508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1176000" y="508000"/>
            <a:ext cx="508000" cy="508000"/>
          </a:xfrm>
          <a:prstGeom prst="donut">
            <a:avLst>
              <a:gd name="adj" fmla="val 25000"/>
            </a:avLst>
          </a:prstGeom>
          <a:solidFill>
            <a:srgbClr val="A7CD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0" y="1079500"/>
            <a:ext cx="381000" cy="381000"/>
          </a:xfrm>
          <a:prstGeom prst="donut">
            <a:avLst>
              <a:gd name="adj" fmla="val 25000"/>
            </a:avLst>
          </a:prstGeom>
          <a:solidFill>
            <a:srgbClr val="FCD34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0" y="1143000"/>
            <a:ext cx="254000" cy="254000"/>
          </a:xfrm>
          <a:prstGeom prst="donut">
            <a:avLst>
              <a:gd name="adj" fmla="val 25000"/>
            </a:avLst>
          </a:prstGeom>
          <a:solidFill>
            <a:srgbClr val="34D39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80000" y="3810000"/>
            <a:ext cx="60325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AI赋能热带农业商业计划书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0" y="4826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065F4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CEO：罗应杰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COO：黄子格</a:t>
            </a:r>
            <a:endParaRPr lang="en-US" sz="1600" b="0" i="0" u="none" strike="noStrike">
              <a:solidFill>
                <a:srgbClr val="FFFFFF"/>
              </a:solidFill>
              <a:latin typeface="幼圆" panose="02010509060101010101" charset="-122"/>
              <a:ea typeface="幼圆" panose="02010509060101010101" charset="-122"/>
              <a:cs typeface="幼圆" panose="02010509060101010101" charset="-122"/>
              <a:sym typeface="幼圆" panose="02010509060101010101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4953000"/>
            <a:ext cx="889000" cy="889000"/>
          </a:xfrm>
          <a:prstGeom prst="donut">
            <a:avLst>
              <a:gd name="adj" fmla="val 3465"/>
            </a:avLst>
          </a:prstGeom>
          <a:solidFill>
            <a:srgbClr val="A7CD9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842000" y="5842000"/>
            <a:ext cx="508000" cy="508000"/>
          </a:xfrm>
          <a:prstGeom prst="donut">
            <a:avLst>
              <a:gd name="adj" fmla="val 3465"/>
            </a:avLst>
          </a:prstGeom>
          <a:solidFill>
            <a:srgbClr val="FCD34D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6223000"/>
            <a:ext cx="304800" cy="304800"/>
          </a:xfrm>
          <a:prstGeom prst="donut">
            <a:avLst>
              <a:gd name="adj" fmla="val 3465"/>
            </a:avLst>
          </a:prstGeom>
          <a:solidFill>
            <a:srgbClr val="34D39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81600" y="1689100"/>
            <a:ext cx="812800" cy="3479800"/>
          </a:xfrm>
          <a:prstGeom prst="roundRect">
            <a:avLst>
              <a:gd name="adj" fmla="val 0"/>
            </a:avLst>
          </a:prstGeom>
          <a:solidFill>
            <a:srgbClr val="BC36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 rot="-5400000">
            <a:off x="4203700" y="3073400"/>
            <a:ext cx="27686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1679" r="1679"/>
          <a:stretch>
            <a:fillRect/>
          </a:stretch>
        </p:blipFill>
        <p:spPr>
          <a:xfrm>
            <a:off x="0" y="1689100"/>
            <a:ext cx="5041900" cy="3479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1404600" y="-457200"/>
            <a:ext cx="977900" cy="977900"/>
          </a:xfrm>
          <a:prstGeom prst="donut">
            <a:avLst>
              <a:gd name="adj" fmla="val 25000"/>
            </a:avLst>
          </a:prstGeom>
          <a:solidFill>
            <a:srgbClr val="C1D8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896600" y="520700"/>
            <a:ext cx="723900" cy="723900"/>
          </a:xfrm>
          <a:prstGeom prst="donut">
            <a:avLst>
              <a:gd name="adj" fmla="val 25000"/>
            </a:avLst>
          </a:prstGeom>
          <a:solidFill>
            <a:srgbClr val="E7AC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772900" y="660400"/>
            <a:ext cx="431800" cy="431800"/>
          </a:xfrm>
          <a:prstGeom prst="donut">
            <a:avLst>
              <a:gd name="adj" fmla="val 25000"/>
            </a:avLst>
          </a:prstGeom>
          <a:solidFill>
            <a:srgbClr val="DB82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870700" y="1689100"/>
            <a:ext cx="825500" cy="774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BC3649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556500" y="1778000"/>
            <a:ext cx="4495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市场分析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千亿蓝海，痛点凸显 | 深入剖析行业市场潜力与核心用户需求痛点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870700" y="2730500"/>
            <a:ext cx="825500" cy="774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BC3649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556500" y="2794000"/>
            <a:ext cx="4495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技术方案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Agent，构筑壁垒 | 核心技术创新突破，打造行业差异化竞争优势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870700" y="3810000"/>
            <a:ext cx="825500" cy="774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BC3649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556500" y="3873500"/>
            <a:ext cx="4495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商业模式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双轮驱动，价值共生 | 创新盈利模式构建，实现多方生态共赢发展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870700" y="4889500"/>
            <a:ext cx="825500" cy="774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BC3649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556500" y="4953000"/>
            <a:ext cx="4495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财务计划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稳健增长，回报可期 | 科学财务测算与规划，展现清晰投资回报价值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8333" b="8333"/>
          <a:stretch>
            <a:fillRect/>
          </a:stretch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248400" y="1625600"/>
            <a:ext cx="2184400" cy="220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04200" y="2667000"/>
            <a:ext cx="28194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333333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市场分析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6337300" y="3721100"/>
            <a:ext cx="443233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66800" y="3962400"/>
            <a:ext cx="3530600" cy="2184400"/>
          </a:xfrm>
          <a:prstGeom prst="roundRect">
            <a:avLst>
              <a:gd name="adj" fmla="val 0"/>
            </a:avLst>
          </a:prstGeom>
          <a:solidFill>
            <a:srgbClr val="649EB2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32297" r="32297"/>
          <a:stretch>
            <a:fillRect/>
          </a:stretch>
        </p:blipFill>
        <p:spPr>
          <a:xfrm>
            <a:off x="1600200" y="1206500"/>
            <a:ext cx="2387600" cy="4495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019800" y="1930400"/>
            <a:ext cx="55499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当前，我国智慧农业市场规模超千亿，但热带作物</a:t>
            </a:r>
            <a:r>
              <a:rPr lang="en-US" altLang="zh-CN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AI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种植决策几乎是空白。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粤西地区作为我国重要的热带作物产区，正面临五大核心痛点，严重制约了产业的升级与可持续发展。</a:t>
            </a:r>
            <a:r>
              <a:rPr lang="en-US" sz="1600" b="0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气象灾害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频发导致产量波动幅度极大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水肥管理模式粗放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造成了严重的资源浪费与成本高企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病虫害预警体系的缺失使得灾情往往发现即蔓延</a:t>
            </a:r>
            <a:r>
              <a:rPr lang="en-US" sz="1600" b="0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防控滞后</a:t>
            </a:r>
            <a:r>
              <a:rPr lang="zh-CN" alt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同时</a:t>
            </a:r>
            <a:r>
              <a:rPr lang="en-US" sz="1600" b="0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劳动力老龄化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趋势加剧产业发展后继乏力；此外，大量农业</a:t>
            </a:r>
            <a:r>
              <a:rPr lang="en-US" sz="1600" b="0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副产品</a:t>
            </a: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未被有效利用而直接浪费，巨大的潜在价值未能得到释放。这五大问题如同沉重的枷锁，不仅带来了显著的经济损失，更成为阻碍当地热带农业现代化转型的关键瓶颈。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055100" y="279400"/>
            <a:ext cx="2819400" cy="774700"/>
          </a:xfrm>
          <a:prstGeom prst="rect">
            <a:avLst/>
          </a:prstGeom>
          <a:solidFill>
            <a:srgbClr val="D0E7E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市场</a:t>
            </a:r>
            <a:r>
              <a:rPr lang="zh-CN" alt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分析</a:t>
            </a:r>
            <a:endParaRPr lang="zh-CN" altLang="en-US" sz="4400" b="1" i="0" u="none" strike="noStrike">
              <a:solidFill>
                <a:srgbClr val="BC3649"/>
              </a:solidFill>
              <a:latin typeface="幼圆" panose="02010509060101010101" charset="-122"/>
              <a:ea typeface="幼圆" panose="02010509060101010101" charset="-122"/>
              <a:cs typeface="幼圆" panose="02010509060101010101" charset="-122"/>
              <a:sym typeface="幼圆" panose="020105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2435" y="4190365"/>
            <a:ext cx="11003915" cy="2553335"/>
          </a:xfrm>
          <a:prstGeom prst="roundRect">
            <a:avLst>
              <a:gd name="adj" fmla="val 0"/>
            </a:avLst>
          </a:prstGeom>
          <a:solidFill>
            <a:srgbClr val="D0E7E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 rot="10800000" flipV="1">
            <a:off x="876300" y="2146300"/>
            <a:ext cx="9398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473200" y="2628900"/>
            <a:ext cx="2298700" cy="205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2025年中国智慧农业市场规模已突破1200亿元，年复合增长率超18%。现有方案偏重硬件，面向</a:t>
            </a:r>
            <a:r>
              <a:rPr lang="en-US" sz="1100" b="0" i="0" u="none" strike="noStrike">
                <a:solidFill>
                  <a:srgbClr val="FF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种植决策的AI软件服务渗透率不足5%</a:t>
            </a:r>
            <a:r>
              <a:rPr lang="en-US" sz="11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，市场空间巨大，是一片亟待开发的千亿级蓝海市场。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473200" y="2197100"/>
            <a:ext cx="218694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宏观市场：千亿蓝海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 rot="10800000" flipV="1">
            <a:off x="4381500" y="2146300"/>
            <a:ext cx="9398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5003800" y="2628900"/>
            <a:ext cx="2298700" cy="205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湛江、茂名、阳江三市热带作物年产值超200亿元，种植面积超300万亩。当地数字化管理工具使用率低于10%，传统种植模式效率低，市场处于蓝海阶段，</a:t>
            </a:r>
            <a:r>
              <a:rPr lang="en-US" sz="1100" b="0" i="0" u="none" strike="noStrike">
                <a:solidFill>
                  <a:srgbClr val="FF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数字化升级需求极为迫切</a:t>
            </a:r>
            <a:r>
              <a:rPr lang="en-US" sz="11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5062855" y="2209800"/>
            <a:ext cx="224028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目标市场：百亿粤西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 rot="10800000" flipV="1">
            <a:off x="7924800" y="2146300"/>
            <a:ext cx="9398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8547100" y="2628900"/>
            <a:ext cx="2298700" cy="205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1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目前市场上没有任何一款AI决策产品专门针对热带种植场景做过深度适配，现有通用方案无法解决当地作物的个性化需求。这一市场空白正是我们切入的核心机会，可快速建立先发优势。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8598535" y="2197100"/>
            <a:ext cx="2172970" cy="342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核心机会：场景空白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9585" y="4128770"/>
            <a:ext cx="10453370" cy="2141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项目开展的核心优势：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1、精准切入：</a:t>
            </a:r>
            <a:r>
              <a:rPr lang="en-US" sz="16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聚焦热带作物这一细分领域，避开与行业巨头的正面竞争，以垂直领域的深度服务打开市场，更容易建立用户信任与品牌认知。</a:t>
            </a:r>
            <a:endParaRPr lang="en-US" sz="1600" b="0" i="0" u="none" strike="noStrike">
              <a:solidFill>
                <a:srgbClr val="000000"/>
              </a:solidFill>
              <a:latin typeface="幼圆" panose="02010509060101010101" charset="-122"/>
              <a:ea typeface="幼圆" panose="02010509060101010101" charset="-122"/>
              <a:cs typeface="幼圆" panose="02010509060101010101" charset="-122"/>
              <a:sym typeface="幼圆" panose="02010509060101010101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2、刚需痛点：</a:t>
            </a:r>
            <a:r>
              <a:rPr lang="en-US" sz="16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直击种植户最关心的气象灾害预警、水肥精准管理、病虫害智能防治等核心问题，提供能直接降本增效的解决方案，用户付费意愿强。</a:t>
            </a:r>
            <a:endParaRPr lang="en-US" sz="1600" b="0" i="0" u="none" strike="noStrike">
              <a:solidFill>
                <a:srgbClr val="000000"/>
              </a:solidFill>
              <a:latin typeface="幼圆" panose="02010509060101010101" charset="-122"/>
              <a:ea typeface="幼圆" panose="02010509060101010101" charset="-122"/>
              <a:cs typeface="幼圆" panose="02010509060101010101" charset="-122"/>
              <a:sym typeface="幼圆" panose="02010509060101010101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3、数据壁垒：</a:t>
            </a:r>
            <a:r>
              <a:rPr lang="en-US" sz="16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通过持续服务积累独家的热带作物种植数据，不断优化AI模型与算法，形成难以被复制的技术与数据双重壁垒，构建长期的市场竞争优势。</a:t>
            </a:r>
            <a:endParaRPr lang="en-US" sz="1600" b="0" i="0" u="none" strike="noStrike">
              <a:solidFill>
                <a:srgbClr val="000000"/>
              </a:solidFill>
              <a:latin typeface="幼圆" panose="02010509060101010101" charset="-122"/>
              <a:ea typeface="幼圆" panose="02010509060101010101" charset="-122"/>
              <a:cs typeface="幼圆" panose="02010509060101010101" charset="-122"/>
              <a:sym typeface="幼圆" panose="02010509060101010101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81500" y="330200"/>
            <a:ext cx="4064000" cy="774700"/>
          </a:xfrm>
          <a:prstGeom prst="rect">
            <a:avLst/>
          </a:prstGeom>
          <a:solidFill>
            <a:srgbClr val="D0E7E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市场规模与机会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rcRect l="6235" r="6235"/>
          <a:stretch>
            <a:fillRect/>
          </a:stretch>
        </p:blipFill>
        <p:spPr>
          <a:xfrm>
            <a:off x="876300" y="342900"/>
            <a:ext cx="2451100" cy="1866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rcRect t="21448" b="21448"/>
          <a:stretch>
            <a:fillRect/>
          </a:stretch>
        </p:blipFill>
        <p:spPr>
          <a:xfrm>
            <a:off x="8864600" y="330200"/>
            <a:ext cx="2451100" cy="1866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55700"/>
            <a:ext cx="12192000" cy="4559300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81100" y="1498600"/>
            <a:ext cx="3873500" cy="3873500"/>
          </a:xfrm>
          <a:prstGeom prst="ellipse">
            <a:avLst/>
          </a:prstGeom>
          <a:solidFill>
            <a:srgbClr val="71B7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248400" y="1625600"/>
            <a:ext cx="2184400" cy="220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800" b="0" i="0" u="none" strike="noStrike">
                <a:solidFill>
                  <a:srgbClr val="BC3649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204200" y="2667000"/>
            <a:ext cx="28194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技术方案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6337300" y="3721100"/>
            <a:ext cx="443231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C3649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7" name="图片 6" descr="cover_01"/>
          <p:cNvPicPr>
            <a:picLocks noChangeAspect="1"/>
          </p:cNvPicPr>
          <p:nvPr/>
        </p:nvPicPr>
        <p:blipFill>
          <a:blip r:embed="rId1"/>
          <a:srcRect r="-515" b="32683"/>
          <a:stretch>
            <a:fillRect/>
          </a:stretch>
        </p:blipFill>
        <p:spPr>
          <a:xfrm>
            <a:off x="1370965" y="2416175"/>
            <a:ext cx="3493135" cy="2025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" y="546100"/>
            <a:ext cx="4064000" cy="952500"/>
          </a:xfrm>
          <a:prstGeom prst="roundRect">
            <a:avLst>
              <a:gd name="adj" fmla="val 0"/>
            </a:avLst>
          </a:prstGeom>
          <a:solidFill>
            <a:srgbClr val="D0E7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核心产品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52500" y="1651000"/>
            <a:ext cx="6096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全栈式技术架构：数据驱动的种植决策闭环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52500" y="2286000"/>
            <a:ext cx="5969000" cy="158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平台搭建了感知、数据、AI决策、应用四层深度耦合的技术体系。底层通过多模态传感器实现田间环境全天候采集；数据层融合气象、土壤及历史生产大数据；核心AI Agent层作为“大脑”完成算法推演；最终通过轻量化的微信小程序与Web后台，将复杂的数据分析转化为自然语言的农事建议，让技术落地更简单、更高效。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52500" y="4064000"/>
            <a:ext cx="6096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八大核心智能体：覆盖全生命周期的专家智库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4699000"/>
            <a:ext cx="5969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八大专业Agent协同工作，涵盖气象预警、土壤墒情、病虫害预测、水肥管理、产量预估、农事排程、市场价格及碳汇核算。从种植规划到产销全链条，为热带作物规模种植户提供精准的决策支持，有效规避自然风险，优化资源投入，实现从传统经验种植向数据驱动的智慧化生产方式转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493000" y="1651000"/>
            <a:ext cx="4318000" cy="4572000"/>
          </a:xfrm>
          <a:prstGeom prst="roundRect">
            <a:avLst>
              <a:gd name="adj" fmla="val 0"/>
            </a:avLst>
          </a:prstGeom>
          <a:solidFill>
            <a:srgbClr val="E0F2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0" y="1905000"/>
            <a:ext cx="4064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B5E2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耕云AI Agent</a:t>
            </a:r>
            <a:br>
              <a:rPr lang="en-US" sz="2800" b="1" i="0" u="none" strike="noStrike">
                <a:solidFill>
                  <a:srgbClr val="1B5E2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</a:br>
            <a:r>
              <a:rPr lang="en-US" sz="2800" b="1" i="0" u="none" strike="noStrike">
                <a:solidFill>
                  <a:srgbClr val="1B5E2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智慧农场管理平台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47000" y="3238500"/>
            <a:ext cx="3810000" cy="25400"/>
          </a:xfrm>
          <a:prstGeom prst="roundRect">
            <a:avLst>
              <a:gd name="adj" fmla="val 0"/>
            </a:avLst>
          </a:prstGeom>
          <a:solidFill>
            <a:srgbClr val="4CAF5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0" y="3429000"/>
            <a:ext cx="4064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388E3C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面向热带作物规模种植户的</a:t>
            </a:r>
            <a:br>
              <a:rPr lang="en-US" sz="1600" b="0" i="0" u="none" strike="noStrike">
                <a:solidFill>
                  <a:srgbClr val="388E3C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</a:br>
            <a:r>
              <a:rPr lang="en-US" sz="1600" b="0" i="0" u="none" strike="noStrike">
                <a:solidFill>
                  <a:srgbClr val="388E3C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专属AI种植决策伙伴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0" y="4699000"/>
            <a:ext cx="4064000" cy="1206500"/>
          </a:xfrm>
          <a:prstGeom prst="roundRect">
            <a:avLst>
              <a:gd name="adj" fmla="val 0"/>
            </a:avLst>
          </a:prstGeom>
          <a:solidFill>
            <a:srgbClr val="4CAF5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65C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知天而作 · 数智兴农</a:t>
            </a:r>
            <a:br>
              <a:rPr lang="en-US" sz="1600" b="0" i="0" u="none" strike="noStrike">
                <a:solidFill>
                  <a:srgbClr val="1F232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</a:br>
            <a:r>
              <a:rPr lang="en-US" sz="1300" b="0" i="0" u="none" strike="noStrike">
                <a:solidFill>
                  <a:srgbClr val="333333">
                    <a:alpha val="90196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让每一次农事动作都有据可依，</a:t>
            </a:r>
            <a:br>
              <a:rPr lang="en-US" sz="1600" b="0" i="0" u="none" strike="noStrike">
                <a:solidFill>
                  <a:srgbClr val="1F232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</a:br>
            <a:r>
              <a:rPr lang="en-US" sz="1300" b="0" i="0" u="none" strike="noStrike">
                <a:solidFill>
                  <a:srgbClr val="333333">
                    <a:alpha val="90196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让农业生产更高效、更可控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87400" y="533400"/>
            <a:ext cx="2819400" cy="774700"/>
          </a:xfrm>
          <a:prstGeom prst="rect">
            <a:avLst/>
          </a:prstGeom>
          <a:solidFill>
            <a:srgbClr val="D0E7E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技术壁垒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460500"/>
            <a:ext cx="5588000" cy="495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气象数值预报降尺度模型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CNN和注意力机制重构算法，成功将全球气象预报的空间精度从25公里级跨越至1公里级。72小时降水预报准确率实现质的飞跃，为农业生产活动提供了可落地的精细化气象参考，从宏观趋势走向微观地块级指导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42000"/>
              </a:lnSpc>
            </a:pPr>
          </a:p>
          <a:p>
            <a:pPr marL="0"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多源土壤感知数据融合算法</a:t>
            </a:r>
            <a:endParaRPr lang="en-US" sz="1600" b="1" i="0" u="none" strike="noStrike">
              <a:solidFill>
                <a:srgbClr val="BC364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性融合低成本传感设备与高精度专业监测仪数据，在严格控制硬件部署成本的同时，将土壤含水量的测量误差稳定控制在5%以内。打破了“低成本即低精度”的行业痛点，实现了大规模田间监测的经济性与准确性平衡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42000"/>
              </a:lnSpc>
            </a:pPr>
          </a:p>
          <a:p>
            <a:pPr marL="0" indent="0" algn="l">
              <a:lnSpc>
                <a:spcPct val="117000"/>
              </a:lnSpc>
            </a:pPr>
            <a:r>
              <a:rPr lang="en-US" sz="16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热带作物病虫害视觉识别系统</a:t>
            </a:r>
            <a:endParaRPr lang="en-US" sz="1600" b="1" i="0" u="none" strike="noStrike">
              <a:solidFill>
                <a:srgbClr val="BC364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深度优化YOLOv8深度学习架构，针对菠萝心腐病等典型病害早期症状训练专属模型。识别准确率高达84%，且相比人工肉眼巡检可提前3-5天发现病变征兆，为病害防控争取了关键的黄金干预窗口期。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604000" y="1524000"/>
            <a:ext cx="5080000" cy="2413000"/>
          </a:xfrm>
          <a:prstGeom prst="roundRect">
            <a:avLst>
              <a:gd name="adj" fmla="val 0"/>
            </a:avLst>
          </a:prstGeom>
          <a:solidFill>
            <a:srgbClr val="D0E7E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731000" y="1651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精准感知：从宏观到微观的跨越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731000" y="2159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D3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传统气象与土壤监测的技术瓶颈，将气象预报精度提升3个数量级，土壤监测误差降至个位数。这种“显微镜”级的环境感知能力，让农业生产不再依赖经验主义，而是建立在客观、实时、精准的数据基础之上，从源头降低自然环境带来的生产风险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0" y="4064000"/>
            <a:ext cx="5080000" cy="2413000"/>
          </a:xfrm>
          <a:prstGeom prst="roundRect">
            <a:avLst>
              <a:gd name="adj" fmla="val 0"/>
            </a:avLst>
          </a:prstGeom>
          <a:solidFill>
            <a:srgbClr val="EEE1E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731000" y="4191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智能决策：AI驱动的主动防御体系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0" y="4699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D3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基于知识图谱的AI Agent多智能体架构，实现了从“发现问题”到“解决问题”的闭环。病虫害的早期识别与AI协同决策相结合，不仅缩短了响应周期，更让系统具备了自我进化和扩展的能力。这一技术组合拳构建了深厚的竞争护城河，确保在复杂农业场景下的高效与稳定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55700"/>
            <a:ext cx="12192000" cy="4559300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81100" y="1498600"/>
            <a:ext cx="3873500" cy="3873500"/>
          </a:xfrm>
          <a:prstGeom prst="ellipse">
            <a:avLst/>
          </a:prstGeom>
          <a:solidFill>
            <a:srgbClr val="71B7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16200" r="16200"/>
          <a:stretch>
            <a:fillRect/>
          </a:stretch>
        </p:blipFill>
        <p:spPr>
          <a:xfrm>
            <a:off x="1422400" y="1739900"/>
            <a:ext cx="3378200" cy="3378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159500" y="1625600"/>
            <a:ext cx="2184400" cy="220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800" b="0" i="0" u="none" strike="noStrike">
                <a:solidFill>
                  <a:srgbClr val="BC3649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051800" y="2667000"/>
            <a:ext cx="41402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商业模式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6337300" y="3721100"/>
            <a:ext cx="443231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C3649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299200" y="39370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254000" indent="-2540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盈利模式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509000" y="39370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254000" indent="-254000" algn="l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运营模式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5250" r="15250"/>
          <a:stretch>
            <a:fillRect/>
          </a:stretch>
        </p:blipFill>
        <p:spPr>
          <a:xfrm>
            <a:off x="1612900" y="1943100"/>
            <a:ext cx="2768600" cy="27686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308100" y="1638300"/>
            <a:ext cx="3403600" cy="3403600"/>
          </a:xfrm>
          <a:prstGeom prst="ellipse">
            <a:avLst/>
          </a:prstGeom>
          <a:noFill/>
          <a:ln w="101600" cap="flat" cmpd="sng">
            <a:solidFill>
              <a:srgbClr val="BC364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810500" y="1917700"/>
            <a:ext cx="4203700" cy="2222500"/>
          </a:xfrm>
          <a:prstGeom prst="roundRect">
            <a:avLst>
              <a:gd name="adj" fmla="val 0"/>
            </a:avLst>
          </a:prstGeom>
          <a:solidFill>
            <a:srgbClr val="BC3649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SaaS订阅服务：分级赋能种植主体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基础版、专业版、企业版三类SaaS服务，按种植面积收取年度服务费，服务涵盖气象灾害预警、作物生长智能监测、产销数据决策等核心能力。配套物联网采集硬件坚持成本价销售，大幅降低农业数字化的使用门槛，让不同规模的种植户都能高效接入智能生产体系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810500" y="4254500"/>
            <a:ext cx="4203700" cy="2222500"/>
          </a:xfrm>
          <a:prstGeom prst="roundRect">
            <a:avLst>
              <a:gd name="adj" fmla="val 0"/>
            </a:avLst>
          </a:prstGeom>
          <a:solidFill>
            <a:srgbClr val="BC3649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副产品深加工：资源循环价值倍增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菠萝皮渣、芒果核、甘蔗秸秆等农业废弃物，引入先进生物技术进行资源化转化。将原本废弃的原料加工为高附加值的酵素生物饲料、特色果酒以及环保生物质复合材料，既解决了农业固废处理难题，又开辟了第二增长曲线，实现生态效益与商业利润的双重提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76800" y="1917700"/>
            <a:ext cx="2921000" cy="1155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28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SaaS订阅服务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76800" y="5346700"/>
            <a:ext cx="29210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28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深度加工业务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49300" y="520700"/>
            <a:ext cx="2819400" cy="774700"/>
          </a:xfrm>
          <a:prstGeom prst="rect">
            <a:avLst/>
          </a:prstGeom>
          <a:solidFill>
            <a:srgbClr val="D0E7E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商业模式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676380" y="1714500"/>
            <a:ext cx="515620" cy="4889500"/>
          </a:xfrm>
          <a:prstGeom prst="roundRect">
            <a:avLst>
              <a:gd name="adj" fmla="val 0"/>
            </a:avLst>
          </a:prstGeom>
          <a:solidFill>
            <a:srgbClr val="D0E7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084705" y="546100"/>
            <a:ext cx="6604000" cy="1016000"/>
          </a:xfrm>
          <a:prstGeom prst="roundRect">
            <a:avLst>
              <a:gd name="adj" fmla="val 0"/>
            </a:avLst>
          </a:prstGeom>
          <a:solidFill>
            <a:srgbClr val="D0E7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市场进入策略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9779000" cy="1587500"/>
          </a:xfrm>
          <a:prstGeom prst="roundRect">
            <a:avLst>
              <a:gd name="adj" fmla="val 0"/>
            </a:avLst>
          </a:prstGeom>
          <a:solidFill>
            <a:srgbClr val="F3D5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101600" rIns="190500" bIns="1016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农业是高度理性的决策场景，从业者对新技术持审慎态度。我们坚信“免费试用 + 标杆案例 + 数据说话”是打破信任壁垒、有效切入市场的唯一路径——用看得见的生产数据和收益变化，替代空洞的技术宣讲，让真实的种植结果成为品牌最好的背书。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92500"/>
            <a:ext cx="4762500" cy="1968500"/>
          </a:xfrm>
          <a:prstGeom prst="roundRect">
            <a:avLst>
              <a:gd name="adj" fmla="val 0"/>
            </a:avLst>
          </a:prstGeom>
          <a:solidFill>
            <a:srgbClr val="D0E7E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27000" rIns="152400" bIns="12700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第一年 · 冷启动：打造标杆样板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F232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精选5-8位具有区域影响力的标杆种植户，免费部署全套数字化管理系统。通过一个完整种植周期的对照试验，沉淀产量提升、成本节约的核心数据，形成“一户一案例、一村一故事”的可验证成果，为后续推广积累硬核说服力。</a:t>
            </a:r>
            <a:endParaRPr lang="en-US" sz="1400" b="0" i="0" u="none" strike="noStrike">
              <a:solidFill>
                <a:srgbClr val="1F2329"/>
              </a:solidFill>
              <a:latin typeface="幼圆" panose="02010509060101010101" charset="-122"/>
              <a:ea typeface="幼圆" panose="02010509060101010101" charset="-122"/>
              <a:cs typeface="幼圆" panose="02010509060101010101" charset="-122"/>
              <a:sym typeface="幼圆" panose="02010509060101010101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778500" y="3492500"/>
            <a:ext cx="4762500" cy="1968500"/>
          </a:xfrm>
          <a:prstGeom prst="roundRect">
            <a:avLst>
              <a:gd name="adj" fmla="val 0"/>
            </a:avLst>
          </a:prstGeom>
          <a:solidFill>
            <a:srgbClr val="F3D5D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52400" tIns="127000" rIns="152400" bIns="12700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第二、三年 · 规模化：渠道与口碑共振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F232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以标杆案例为信任抓手，联动农业农村局、行业协会建立官方合作，同时赋能核心农资经销商开展落地服务。依托成功案例的示范效应，从粤西核心产区向华南全域辐射，通过“点上突破、线上延伸、面上覆盖”实现市场的快速渗透与规模化扩张。</a:t>
            </a:r>
            <a:endParaRPr lang="en-US" sz="1400" b="0" i="0" u="none" strike="noStrike">
              <a:solidFill>
                <a:srgbClr val="1F2329"/>
              </a:solidFill>
              <a:latin typeface="幼圆" panose="02010509060101010101" charset="-122"/>
              <a:ea typeface="幼圆" panose="02010509060101010101" charset="-122"/>
              <a:cs typeface="幼圆" panose="02010509060101010101" charset="-122"/>
              <a:sym typeface="幼圆" panose="02010509060101010101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5524500"/>
            <a:ext cx="9779000" cy="1079500"/>
          </a:xfrm>
          <a:prstGeom prst="roundRect">
            <a:avLst>
              <a:gd name="adj" fmla="val 0"/>
            </a:avLst>
          </a:prstGeom>
          <a:solidFill>
            <a:srgbClr val="EB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63500" rIns="190500" bIns="635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55A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从单点突破到区域复制，我们不追求激进的市场投放，而是坚持“案例先行、口碑驱动”。用实实在在的生产效益打动用户，让每一个成功的种植户都成为我们的品牌代言人，稳步构建农业数字化服务的市场根基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55700"/>
            <a:ext cx="12192000" cy="4559300"/>
          </a:xfrm>
          <a:prstGeom prst="roundRect">
            <a:avLst>
              <a:gd name="adj" fmla="val 0"/>
            </a:avLst>
          </a:prstGeom>
          <a:solidFill>
            <a:srgbClr val="F2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181100" y="1498600"/>
            <a:ext cx="3873500" cy="3873500"/>
          </a:xfrm>
          <a:prstGeom prst="ellipse">
            <a:avLst/>
          </a:prstGeom>
          <a:solidFill>
            <a:srgbClr val="71B7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16200" r="16200"/>
          <a:stretch>
            <a:fillRect/>
          </a:stretch>
        </p:blipFill>
        <p:spPr>
          <a:xfrm>
            <a:off x="1460500" y="1778000"/>
            <a:ext cx="3302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248400" y="1625600"/>
            <a:ext cx="2184400" cy="220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800" b="0" i="0" u="none" strike="noStrike">
                <a:solidFill>
                  <a:srgbClr val="BC3649"/>
                </a:solidFill>
                <a:effectLst>
                  <a:outerShdw blurRad="38100" dist="38100" dir="2700000" algn="tl" rotWithShape="0">
                    <a:srgbClr val="000000">
                      <a:alpha val="431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42300" y="2730500"/>
            <a:ext cx="28194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财务计划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6337300" y="3721100"/>
            <a:ext cx="443231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C3649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8800" y="457200"/>
            <a:ext cx="2819400" cy="774700"/>
          </a:xfrm>
          <a:prstGeom prst="rect">
            <a:avLst/>
          </a:prstGeom>
          <a:solidFill>
            <a:srgbClr val="D0E7EE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融资计划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95300" y="1524000"/>
            <a:ext cx="7493000" cy="508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一、种子轮/天使轮融资核心方案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轮计划融资金额为200万元，拟出让公司10%-15%的股权。资金将按战略优先级精准分配：40%用于技术研发，重点突破核心技术壁垒与产品迭代升级；30%投入市场推广，快速铺设获客渠道并打响品牌影响力；20%用于生产基地建设，夯实产能基础与供应链体系；剩余10%作为运营储备金，保障团队日常运转与突发风险应对，为项目初期发展筑牢根基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BC3649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  <a:sym typeface="幼圆" panose="02010509060101010101" charset="-122"/>
              </a:rPr>
              <a:t>二、三年期经营财务增长预测</a:t>
            </a:r>
            <a:endParaRPr lang="en-US" sz="1800" b="1" i="0" u="none" strike="noStrike">
              <a:solidFill>
                <a:srgbClr val="BC3649"/>
              </a:solidFill>
              <a:latin typeface="幼圆" panose="02010509060101010101" charset="-122"/>
              <a:ea typeface="幼圆" panose="02010509060101010101" charset="-122"/>
              <a:cs typeface="幼圆" panose="02010509060101010101" charset="-122"/>
              <a:sym typeface="幼圆" panose="020105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年处于市场投入期，预计实现营收78万元，因前期研发与市场成本投入较高，净利润为-67万元，核心目标是完成用户积累与商业模式初步验证；第二年业务逐步成熟，营收规模跃升至400万元，成本与收益趋于平衡，净利润实现0万元，成功达成盈亏平衡关键节点；第三年进入快速扩张期，市场份额大幅提升，营收突破1500万元，净利润达300万元，净利润率稳定在20%，正式迈入规模化盈利阶段，展现出强劲的商业增长潜力。</a:t>
            </a: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33809" r="33809"/>
          <a:stretch>
            <a:fillRect/>
          </a:stretch>
        </p:blipFill>
        <p:spPr>
          <a:xfrm>
            <a:off x="8458200" y="0"/>
            <a:ext cx="36449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3524" r="23524"/>
          <a:stretch>
            <a:fillRect/>
          </a:stretch>
        </p:blipFill>
        <p:spPr>
          <a:xfrm>
            <a:off x="368300" y="317500"/>
            <a:ext cx="4940300" cy="622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10800000" flipV="1">
            <a:off x="4152900" y="1320800"/>
            <a:ext cx="1727200" cy="5537200"/>
          </a:xfrm>
          <a:prstGeom prst="parallelogram">
            <a:avLst>
              <a:gd name="adj" fmla="val 58926"/>
            </a:avLst>
          </a:prstGeom>
          <a:solidFill>
            <a:srgbClr val="71B7C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 rot="4740000">
            <a:off x="2476500" y="3733800"/>
            <a:ext cx="50038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F3D5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BUSINESS PLAN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rot="4740000">
            <a:off x="2501900" y="3733800"/>
            <a:ext cx="50038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BUSINESS PLAN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0" y="101600"/>
            <a:ext cx="635000" cy="635000"/>
          </a:xfrm>
          <a:prstGeom prst="donut">
            <a:avLst>
              <a:gd name="adj" fmla="val 25000"/>
            </a:avLst>
          </a:prstGeom>
          <a:solidFill>
            <a:srgbClr val="C1D8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099800" y="736600"/>
            <a:ext cx="469900" cy="469900"/>
          </a:xfrm>
          <a:prstGeom prst="donut">
            <a:avLst>
              <a:gd name="adj" fmla="val 25000"/>
            </a:avLst>
          </a:prstGeom>
          <a:solidFill>
            <a:srgbClr val="D6C8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671300" y="825500"/>
            <a:ext cx="279400" cy="279400"/>
          </a:xfrm>
          <a:prstGeom prst="donut">
            <a:avLst>
              <a:gd name="adj" fmla="val 25000"/>
            </a:avLst>
          </a:prstGeom>
          <a:solidFill>
            <a:srgbClr val="DB82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023100" y="4648200"/>
            <a:ext cx="1104900" cy="1104900"/>
          </a:xfrm>
          <a:prstGeom prst="donut">
            <a:avLst>
              <a:gd name="adj" fmla="val 3465"/>
            </a:avLst>
          </a:prstGeom>
          <a:solidFill>
            <a:srgbClr val="F3D5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756400" y="5702300"/>
            <a:ext cx="546100" cy="546100"/>
          </a:xfrm>
          <a:prstGeom prst="donut">
            <a:avLst>
              <a:gd name="adj" fmla="val 3465"/>
            </a:avLst>
          </a:prstGeom>
          <a:solidFill>
            <a:srgbClr val="F3D5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289800" y="6235700"/>
            <a:ext cx="330200" cy="330200"/>
          </a:xfrm>
          <a:prstGeom prst="donut">
            <a:avLst>
              <a:gd name="adj" fmla="val 3465"/>
            </a:avLst>
          </a:prstGeom>
          <a:solidFill>
            <a:srgbClr val="F3D5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91300" y="2209800"/>
            <a:ext cx="243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0" i="0" u="none" strike="noStrike">
                <a:solidFill>
                  <a:srgbClr val="BC364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64300" y="2730500"/>
            <a:ext cx="51054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9600" b="0" i="0" u="none" strike="noStrike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谢谢观看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64300" y="4508500"/>
            <a:ext cx="520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期待与您携手，共创智慧农业新篇章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0,&quot;left&quot;:69,&quot;top&quot;:169,&quot;width&quot;:785}"/>
</p:tagLst>
</file>

<file path=ppt/tags/tag2.xml><?xml version="1.0" encoding="utf-8"?>
<p:tagLst xmlns:p="http://schemas.openxmlformats.org/presentationml/2006/main">
  <p:tag name="KSO_WM_DIAGRAM_VIRTUALLY_FRAME" val="{&quot;height&quot;:200,&quot;left&quot;:69,&quot;top&quot;:169,&quot;width&quot;:785}"/>
</p:tagLst>
</file>

<file path=ppt/tags/tag3.xml><?xml version="1.0" encoding="utf-8"?>
<p:tagLst xmlns:p="http://schemas.openxmlformats.org/presentationml/2006/main">
  <p:tag name="KSO_WM_DIAGRAM_VIRTUALLY_FRAME" val="{&quot;height&quot;:200,&quot;left&quot;:69,&quot;top&quot;:169,&quot;width&quot;:785}"/>
</p:tagLst>
</file>

<file path=ppt/tags/tag4.xml><?xml version="1.0" encoding="utf-8"?>
<p:tagLst xmlns:p="http://schemas.openxmlformats.org/presentationml/2006/main">
  <p:tag name="KSO_WM_DIAGRAM_VIRTUALLY_FRAME" val="{&quot;height&quot;:200,&quot;left&quot;:69,&quot;top&quot;:169,&quot;width&quot;:785}"/>
</p:tagLst>
</file>

<file path=ppt/tags/tag5.xml><?xml version="1.0" encoding="utf-8"?>
<p:tagLst xmlns:p="http://schemas.openxmlformats.org/presentationml/2006/main">
  <p:tag name="KSO_WM_DIAGRAM_VIRTUALLY_FRAME" val="{&quot;height&quot;:200,&quot;left&quot;:69,&quot;top&quot;:169,&quot;width&quot;:785}"/>
</p:tagLst>
</file>

<file path=ppt/tags/tag6.xml><?xml version="1.0" encoding="utf-8"?>
<p:tagLst xmlns:p="http://schemas.openxmlformats.org/presentationml/2006/main">
  <p:tag name="KSO_WM_DIAGRAM_VIRTUALLY_FRAME" val="{&quot;height&quot;:200,&quot;left&quot;:69,&quot;top&quot;:169,&quot;width&quot;:785}"/>
</p:tagLst>
</file>

<file path=ppt/tags/tag7.xml><?xml version="1.0" encoding="utf-8"?>
<p:tagLst xmlns:p="http://schemas.openxmlformats.org/presentationml/2006/main">
  <p:tag name="KSO_WM_DIAGRAM_VIRTUALLY_FRAME" val="{&quot;height&quot;:200,&quot;left&quot;:69,&quot;top&quot;:169,&quot;width&quot;:785}"/>
</p:tagLst>
</file>

<file path=ppt/tags/tag8.xml><?xml version="1.0" encoding="utf-8"?>
<p:tagLst xmlns:p="http://schemas.openxmlformats.org/presentationml/2006/main">
  <p:tag name="KSO_WM_DIAGRAM_VIRTUALLY_FRAME" val="{&quot;height&quot;:200,&quot;left&quot;:69,&quot;top&quot;:169,&quot;width&quot;:785}"/>
</p:tagLst>
</file>

<file path=ppt/tags/tag9.xml><?xml version="1.0" encoding="utf-8"?>
<p:tagLst xmlns:p="http://schemas.openxmlformats.org/presentationml/2006/main">
  <p:tag name="KSO_WM_DIAGRAM_VIRTUALLY_FRAME" val="{&quot;height&quot;:200,&quot;left&quot;:69,&quot;top&quot;:169,&quot;width&quot;:78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3234</Words>
  <Application>WPS 演示</Application>
  <PresentationFormat/>
  <Paragraphs>154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Arial</vt:lpstr>
      <vt:lpstr>黑体</vt:lpstr>
      <vt:lpstr>Noto Sans SC</vt:lpstr>
      <vt:lpstr>幼圆</vt:lpstr>
      <vt:lpstr>等线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WPS_1682749399</cp:lastModifiedBy>
  <cp:revision>3</cp:revision>
  <dcterms:created xsi:type="dcterms:W3CDTF">2026-05-28T12:31:00Z</dcterms:created>
  <dcterms:modified xsi:type="dcterms:W3CDTF">2026-06-06T04:20:18Z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{"Label":"1","ContentProducer":"001191110102MACQD9K64010000","ProduceID":"7644916700501167056","ReservedCode1":"","ContentPropagator":"","PropagateID":"","ReservedCode2":""}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7A9D70F3800B4AE08D9DD5891B8D336D_13</vt:lpwstr>
  </property>
</Properties>
</file>